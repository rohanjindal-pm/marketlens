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23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7772400" cy="109728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andida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920240"/>
            <a:ext cx="2560320" cy="56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062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Inter"/>
              </a:rPr>
              <a:t>Competitive Landscape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749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2CE72"/>
                </a:solidFill>
                <a:latin typeface="Inter"/>
              </a:rPr>
              <a:t>Finance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CCD6"/>
                </a:solidFill>
                <a:latin typeface="Inter"/>
              </a:rPr>
              <a:t>2026-06-15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2811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B93A3"/>
                </a:solidFill>
                <a:latin typeface="Inter"/>
              </a:rPr>
              <a:t>Confidential — prepared for Indus Valley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The buy-side and alternative-asset technology market is consolidating around unified front-to-back data platforms while a wave of AI ('agentic') automation reshapes the middle and back office. Scale players are buying their way to breadth (Clearwater Analytics acquired Enfusion for ~$1.5B; SS&amp;C acquired Calastone), enterprise incumbents (SimCorp, SS&amp;C) push a single-source-of-truth platform, and specialists differentiate on private-markets depth (Allvue), regulatory and data quality (Confluence), and AI-native valuation and data (Arcesium, 73 Strings). Competitors also compete loudly on content and channels (client-story video, product explainers, podcasts and webinars). For IVP, a 25-year buy-side specialist now scaling via M&amp;A (IntegriDATA) with $5.5T+ AUM across its group, the battleground is data management, private-credit operations, a credible AI story, and market visibility.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39948"/>
            <a:ext cx="621792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63B"/>
                </a:solidFill>
                <a:latin typeface="Inter"/>
              </a:rPr>
              <a:t>7 competitors tracked: </a:t>
            </a:r>
            <a:r>
              <a:rPr sz="1000" b="0" i="0">
                <a:solidFill>
                  <a:srgbClr val="1A1F29"/>
                </a:solidFill>
                <a:latin typeface="Inter"/>
              </a:rPr>
              <a:t>Enfusion, Arcesium, SS&amp;C Technologies, SimCorp, Allvue Systems, Confluence Technologies, 73 Strings.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51428"/>
            <a:ext cx="6217920" cy="142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B7280"/>
                </a:solidFill>
                <a:latin typeface="Inter"/>
              </a:rPr>
              <a:t>Key market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9322"/>
            <a:ext cx="6217920" cy="16619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0" i="0">
                <a:solidFill>
                  <a:srgbClr val="1A1F29"/>
                </a:solidFill>
                <a:latin typeface="Inter"/>
              </a:rPr>
              <a:t>•  Front-to-back platform consolidation and M&amp;A (Clearwater acquires Enfusion ~$1.5B; SS&amp;C acquires Calastone)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A1F29"/>
                </a:solidFill>
                <a:latin typeface="Inter"/>
              </a:rPr>
              <a:t>•  Agentic AI moving into middle and back-office workflows (Arcesium AI agents, Confluence Rex)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A1F29"/>
                </a:solidFill>
                <a:latin typeface="Inter"/>
              </a:rPr>
              <a:t>•  Private-markets data and valuation automation (73 Strings, Allvue, Arcesium)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A1F29"/>
                </a:solidFill>
                <a:latin typeface="Inter"/>
              </a:rPr>
              <a:t>•  Regulatory reporting and data quality as competitive differentiators (Confluence; ILPA reporting frameworks)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A1F29"/>
                </a:solidFill>
                <a:latin typeface="Inter"/>
              </a:rPr>
              <a:t>•  Content and video marketing as a competitive channel (client-story video, product explainers, podcasts, webinars)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A1F29"/>
                </a:solidFill>
                <a:latin typeface="Inter"/>
              </a:rPr>
              <a:t>•  Buy-side demand for a single source of truth and a unified 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57444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https://www.ivp.in/   ·   https://www.enfusion.com/   ·   https://www.youtube.com/@oneenfusion   ·   https://www.arcesium.com/   ·   https://www.youtube.com/c/Arcesium   ·   https://www.ssctech.com/   ·   https://www.youtube.com/c/SsctechInc   ·   https://www.simcorp.com/   (+7 more — see Sources &amp; Methodology)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Your Business — Indus Valley Partners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87348"/>
          <a:ext cx="6217920" cy="295884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4754880"/>
              </a:tblGrid>
              <a:tr h="24307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FIELD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DETAIL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WHAT YOU DO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Technology products, managed services, and consulting for alternative asset managers, spanning front-to-back data, risk, portfolio, and regulatory reporting workflows.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Buy-side investment management technology &amp; managed services (fintech)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TARGET CUSTOMERS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Alternative asset managers: hedge funds, private equity, private credit and CLO managers, family offices, infrastructure and real estate funds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VALUE PROPOSITION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Helps sophisticated asset managers improve efficiency, insight, and performance through data platforms, risk tools, data-quality automation, and workflow digitization.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DIFFERENTIATORS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25+ years focused exclusively on the buy-side, Combines software products + managed services + consulting, Industry platforms: IVP for Private Funds, IVP for Credit, IVP for Master Data Management, Serves large, complex managers (Blue Owl, Bain Capital, Hudson Bay, Sands Capital)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WEBSITE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https://www.ivp.in/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447794"/>
            <a:ext cx="6217920" cy="117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https://www.ivp.in/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Market Landscape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87348"/>
          <a:ext cx="6217920" cy="305943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4663440"/>
              </a:tblGrid>
              <a:tr h="24307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POSITIONING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Enfusion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Cloud-native, front-to-back investment management SaaS (now part of Clearwater Analytics).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Arcesium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Cloud-native data and post-trade operations platform for sophisticated buy-side and sell-side firms.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SS&amp;C Technologies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Diversified financial-software and fund-services giant spanning the full front-to-back stack.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SimCorp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Enterprise front-to-back investment management platform (SimCorp One) for public and private markets.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Allvue Systems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Investment software for private equity and private credit across the full fund lifecycle.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Confluence Technologies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Enterprise data, regulatory reporting and analytics for the investment-management industry.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F29"/>
                          </a:solidFill>
                          <a:latin typeface="Inter"/>
                        </a:rPr>
                        <a:t>73 Strings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1F29"/>
                          </a:solidFill>
                          <a:latin typeface="Inter"/>
                        </a:rPr>
                        <a:t>AI-native valuation, monitoring and data-extraction platform for private markets.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548378"/>
            <a:ext cx="6217920" cy="469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https://www.enfusion.com/   ·   https://www.youtube.com/@oneenfusion   ·   https://www.capterra.com/p/165409/Enfusion/   ·   https://www.hedgeweek.com/quant-funds-choose-enfusion-investment-management-technology-and-managed-services/   ·   https://www.arcesium.com/   ·   https://www.youtube.com/c/Arcesium   ·   https://investor.factset.com/news-releases/news-release-details/factset-and-arcesium-debut-tech-unite-front-middle-and-back   ·   https://www.cbinsights.com/company/arcesium   (+18 more — see Sources &amp; Methodology)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Competitive Strength Map</a:t>
            </a:r>
          </a:p>
        </p:txBody>
      </p:sp>
      <p:pic>
        <p:nvPicPr>
          <p:cNvPr id="10" name="Picture 9" descr="chart_streng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87348"/>
            <a:ext cx="6035040" cy="40155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29926"/>
            <a:ext cx="6217920" cy="469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https://www.enfusion.com/   ·   https://www.youtube.com/@oneenfusion   ·   https://www.capterra.com/p/165409/Enfusion/   ·   https://www.hedgeweek.com/quant-funds-choose-enfusion-investment-management-technology-and-managed-services/   ·   https://www.arcesium.com/   ·   https://www.youtube.com/c/Arcesium   ·   https://investor.factset.com/news-releases/news-release-details/factset-and-arcesium-debut-tech-unite-front-middle-and-back   ·   https://www.cbinsights.com/company/arcesium   (+18 more — see Sources &amp; Methodology)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Marketing &amp; Channel Presence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87348"/>
          <a:ext cx="6217920" cy="294208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371600"/>
                <a:gridCol w="1463040"/>
                <a:gridCol w="2011680"/>
              </a:tblGrid>
              <a:tr h="24307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LINKEDIN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YOUTUBE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Inter"/>
                        </a:rPr>
                        <a:t>CONTENT FOCUS</a:t>
                      </a:r>
                    </a:p>
                  </a:txBody>
                  <a:tcPr marL="63500" marR="63500" marT="38100" marB="38100" anchor="t">
                    <a:solidFill>
                      <a:srgbClr val="23263B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Enfusion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~140K (now under Clearwater)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subs n/a; active (Clearwater)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Podcast + thought leadership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Arcesium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Large (~1,800 staff)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~704 subs; light (to Dec '25)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Thought leadership + brand/culture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SS&amp;C Technologies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Major (public co.)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~746 subs; very active (2026)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Client stories, wealth (Black Diamond)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SimCorp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~49.8K followers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~989 subs; active (to Oct '25)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Product/risk education + webinars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Allvue Systems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~10.5K followers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~58 subs; very active (2026)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Client stories, AI, PE/credit events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Confluence Technologies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/company/confluence-technologies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~58 subs; active (to Nov '25)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Product explainers + market commentary</a:t>
                      </a:r>
                    </a:p>
                  </a:txBody>
                  <a:tcPr marL="63500" marR="63500" marT="38100" marB="38100" anchor="t">
                    <a:solidFill>
                      <a:srgbClr val="F7F9FB"/>
                    </a:solidFill>
                  </a:tcPr>
                </a:tc>
              </a:tr>
              <a:tr h="38557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A1F29"/>
                          </a:solidFill>
                          <a:latin typeface="Inter"/>
                        </a:rPr>
                        <a:t>73 Strings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Growing (startup; founder-led)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Minimal / none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A1F29"/>
                          </a:solidFill>
                          <a:latin typeface="Inter"/>
                        </a:rPr>
                        <a:t>AI-valuation thought leadership (LinkedIn/PR)</a:t>
                      </a:r>
                    </a:p>
                  </a:txBody>
                  <a:tcPr marL="63500" marR="63500" marT="38100" marB="381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4431030"/>
            <a:ext cx="6217920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63B"/>
                </a:solidFill>
                <a:latin typeface="Inter"/>
              </a:rPr>
              <a:t>Your channel gap: </a:t>
            </a:r>
            <a:r>
              <a:rPr sz="1000" b="0" i="0">
                <a:solidFill>
                  <a:srgbClr val="1A1F29"/>
                </a:solidFill>
                <a:latin typeface="Inter"/>
              </a:rPr>
              <a:t>IVP's YouTube channel (IndusValleyPartners) has ~35 subscribers and ~8 videos, all uploaded in 2012, and isn't linked from ivp.in. Competitor channels are also modest (SimCorp ~989, SS&amp;C ~746, Arcesium ~704 subs; Allvue and Confluence ~58 each), so the real gap is activity and recency, not audience scale: several competitors publish current client-story and product content while IVP's channel has been dormant for over a decade. LinkedIn is the sector's primary owned channel; a refreshed, current video and thought-leadership cadence is a low-cost differentiator.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80710"/>
            <a:ext cx="6217920" cy="469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https://www.enfusion.com/   ·   https://www.youtube.com/@oneenfusion   ·   https://www.capterra.com/p/165409/Enfusion/   ·   https://www.hedgeweek.com/quant-funds-choose-enfusion-investment-management-technology-and-managed-services/   ·   https://www.arcesium.com/   ·   https://www.youtube.com/c/Arcesium   ·   https://investor.factset.com/news-releases/news-release-details/factset-and-arcesium-debut-tech-unite-front-middle-and-back   ·   https://www.cbinsights.com/company/arcesium   (+18 more — see Sources &amp; Methodology)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Enfusion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Cloud-native, front-to-back investment management SaaS (now part of Clearwater Analytics).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29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 unified, multi-tenant cloud platform spanning portfolio management, OEMS, accounting/GL and managed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93874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Hedge funds, asset managers and institutional investors; 1,000+ clients across 30 countries.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59456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Portfolio Management System (real-time IBOR), Order &amp; Execution Management (OEMS), Accounting / General Ledger, Managed Services, Analytics &amp;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7532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Real-time IBOR and risk, Multi-asset electronic execution, Automated double-entry ledger, Multi-entity support, Cloud multi-tenant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5608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Subscription, quote-on-request; no free trial.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8696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Limited public product reviews (Capterra: none; G2 sparse) - enterprise motion; ~95% reported client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64278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Generally positive with high retention; some users cite functionality gaps and onboarding effort.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292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987804"/>
            <a:ext cx="2971800" cy="902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~95% client retention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Rapid time-to-implement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True real-time front-to-back on one platform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Growing managed-services recurring revenue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Now backed by Clearwater Analytics'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954274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113786"/>
            <a:ext cx="2971800" cy="826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North America-heavy (75%+ of revenue); limited EU/Asia footprint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Feature gaps versus some specialist competitors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Integration and identity questions post-Clearwater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8066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40172"/>
            <a:ext cx="6217920" cy="541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Jan 2025: Acquired by Clearwater Analytics for ~$1.5B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Expanding the managed-services layer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Highlighted quant-fund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45454"/>
            <a:ext cx="621792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Runs the 'Beyond Alpha' podcast (tech-provider relationships, governance, AI/blockchain) and a 'What's Next in Investment Management' video series, plus COO/exec interviews, white papers, case studies and webinars. Content is increasingly folding into the Clearwater Analytics brand post-acquisition.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536436"/>
            <a:ext cx="6217920" cy="234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https://www.enfusion.com/   ·   https://www.youtube.com/@oneenfusion   ·   https://www.capterra.com/p/165409/Enfusion/   ·   https://www.hedgeweek.com/quant-funds-choose-enfusion-investment-management-technology-and-managed-services/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Arcesium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Cloud-native data and post-trade operations platform for sophisticated buy-side and sell-side firms.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29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Front-to-back data management and operational scale for the most complex institutions; D.E. Shaw-born, Blackstone and J.P. Morgan-backed.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93874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Hedge funds, asset managers, private-markets firms and sell-side; services $6.4T+ gross AUM.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59456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Data management platform, Post-trade operations, Private-markets solutions, Agentic AI platform, Opterra / Aquata, Integrations hub (OMS, risk, accounting, SWIFT)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7532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Pre-built AI agents (P&amp;L explain, NAV review, portfolio monitoring), Private client pod on AWS/VPC, 170M+ investments modelled, Deep multi-system integrations, FactSet front-to-back 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5608"/>
            <a:ext cx="2971800" cy="142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Enterprise, quote-on-request (not public).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56202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Glassdoor 4.0/5 (916 reviews, employer), 86% recommend; few public product reviews (enterprise)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79290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Respected by complex institutions; little public review data due to enterprise motion.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292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987804"/>
            <a:ext cx="2971800" cy="8648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Elite pedigree (D.E. Shaw / Blackstone / J.P. Morgan)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Handles the most complex workflows at scale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Early, credible agentic-AI offering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~1,800 engineering/ops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916174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075686"/>
            <a:ext cx="2971800" cy="68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Enterprise-grade complexity and cost; less fit for smaller managers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Heavy implementations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Opaque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5317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12690"/>
            <a:ext cx="6217920" cy="541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Launched a comprehensive agentic-AI platform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FactSet partnership for front-to-back workflows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Ongoing private-markets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17972"/>
            <a:ext cx="621792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Web- and LinkedIn-led thought leadership on unified buy-side data ('Can You Really Trust Your Data?', exec David Nable). YouTube leans brand/culture (Five Year Journey, anniversaries, Lisbon) plus product intros (Introducing Opterra, Aquata); last upload Dec 2025. Heavy press around the agentic-AI platform and FactSet partnership.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51448"/>
            <a:ext cx="6217920" cy="234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https://www.arcesium.com/   ·   https://www.youtube.com/c/Arcesium   ·   https://investor.factset.com/news-releases/news-release-details/factset-and-arcesium-debut-tech-unite-front-middle-and-back   ·   https://www.cbinsights.com/company/arcesium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SS&amp;C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Diversified financial-software and fund-services giant spanning the full front-to-back stack.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29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Breadth and scale: own the entire stack (OMS/EMS to accounting to fund admin to outsourcing) and reduce vendor sprawl.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93874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Asset managers, hedge funds, RIAs, family offices and insurers; global.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1696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Geneva (accounting/PMS), Eze / Eze Eclipse (OEMS), GlobeOp (fund administration), Advent (APX, Black Diamond), Calastone funds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82544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Full-stack, modular or integrated, Fund administration + middle-office outsourcing, Workflow automation and reconciliation, Secure custodian/PB/market-data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90620"/>
            <a:ext cx="2971800" cy="142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Enterprise/custom; not public.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71214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On Gartner Peer Insights (SS&amp;C Eze, SS&amp;C Advent); few aggregated public product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94302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Trusted at scale; complexity and integration are the common critiques.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292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987804"/>
            <a:ext cx="2971800" cy="541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Massive scale and product breadth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One-stop vendor (products + outsourcing)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Large recurring-revenue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593086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752598"/>
            <a:ext cx="2971800" cy="68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Fragmented stack from many acquisitions causes integration friction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Can feel legacy and complex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Less nimble than cloud-native specialists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6819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27702"/>
            <a:ext cx="621792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Acquired Calastone (global funds network, 4,500+ organizations)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Continued AI and automation 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52390"/>
            <a:ext cx="621792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High-volume video via the 'SS&amp;C Advent' YouTube channel, very active into 2026: Black Diamond Wealth Solutions client stories (Diversified Trust, Symmetry, LourdMurray, The Mason Companies), leader interviews and WealthAdvisor segments. Broad multi-brand content across Advent / Black Diamond / Eze.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43372"/>
            <a:ext cx="6217920" cy="234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https://www.ssctech.com/   ·   https://www.youtube.com/c/SsctechInc   ·   https://www.advent.com/   ·   https://en.wikipedia.org/wiki/SS&amp;C_Technologies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SimCorp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Enterprise front-to-back investment management platform (SimCorp One) for public and private markets.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29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 single integrated multi-asset platform and single source of truth across the investment lifecycle.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93874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Large asset managers, asset owners, pension funds and insurers; global enterprise.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16962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SimCorp One, Portfolio management &amp; trading, Investment accounting &amp; IBOR, Risk &amp; compliance (Axioma), Fund administration, ESG, Alternatives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25038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Public + private markets in one platform, Highly customizable and flexible, Single data source front-to-back, Axioma risk analytics, 50+ years of domain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3114"/>
            <a:ext cx="2971800" cy="142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Enterprise; not public.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13708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G2 4.4/5 (21 reviews); also listed on Gartner Peer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36796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Praised for flexibility and integration; criticized for complexity and implementation cost/time.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292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987804"/>
            <a:ext cx="2971800" cy="541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Deep, flexible, integrated platform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Strong with large and complex institutions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Single source of truth across asset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593086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752598"/>
            <a:ext cx="2971800" cy="68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Complex to learn with a steep ramp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Implementations frequently exceed budget and timeline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Heavyweight for smaller managers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5317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12690"/>
            <a:ext cx="621792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SimCorp Global Summit (Barcelona); AI-Powered Portfolio Management push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Continued SimCorp One rollout and private-markets expansion under Deutsche Borse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37378"/>
            <a:ext cx="621792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Heavy webinar program (2025: Client Reporting, Global Equities Risk Insights, AI-Powered Portfolio Management, Front Office Velocity) and SimCorp Global Summit 2025 in Barcelona (largest audience to date). YouTube (300+ videos) features AI-produced product explainers, Axioma risk-model education and portfolio-optimization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70854"/>
            <a:ext cx="6217920" cy="234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https://www.simcorp.com/   ·   https://www.youtube.com/channel/UCKPHUkNBQTA3nlPJE1CfwXQ   ·   https://www.gartner.com/reviews/product/simcorp-one   ·   https://www.trustradius.com/products/simcorp-one/reviews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Allvue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1760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Investment software for private equity and private credit across the full fund lifecycle.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52270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 unified PE/credit platform from fundraising and deal management through accounting to investor reporting (BlackMountain + AltaReturn heritage).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60346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Private equity, private credit and CLO managers, fund administrators, GPs and LPs.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83434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Fund accounting, Portfolio &amp; deal management, Credit management, Investor portal &amp; reporting, Nexius Intelligent Data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49016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Front-to-back PE/credit lifecycle, ILPA-aligned LP reporting, Compliance automation, Investor portals, AI/real-time data (Nexius)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14598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Quote-on-request with annual terms; demo offered, no public free trial.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37686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Capterra 5.0/5 (1 review - sparse); Glassdoor 3.7/5 (190, employer), 67%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774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Positive; valued for compliance, reporting and private-markets 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652270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11782"/>
            <a:ext cx="2971800" cy="8648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Deep private-markets (PE + credit) focus, directly overlapping IVP for Private Funds/Credit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Unified front + back office from the merger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Strong investor-reporting and ILPA support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$2.5T+ on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40152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99664"/>
            <a:ext cx="2971800" cy="826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Narrower to private markets; not a multi-asset hedge-fund front office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Integration depth varies by module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Mid-market perception versus enterprise incumbents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3466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94174"/>
            <a:ext cx="6217920" cy="361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2026: Allvue Access25 community conference; AI/Nexius data-platform push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Jan 2025: Portfolio Monitoring for the updated ILPA GP-LP reporting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18862"/>
            <a:ext cx="621792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Very active video and events into 2026: client transformation stories (Inventure, Phoenix Fund Services), 'Allvue in Action' product demos, 'AI in Private Capital' (with Ticker News), Nexius data-platform launch, and the Allvue Access25 conference; plus 'The Alternatives Perspective' newsletter.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09844"/>
            <a:ext cx="6217920" cy="234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https://www.allvuesystems.com/industries/private-equity/   ·   https://www.youtube.com/@AllvueSystems   ·   https://www.g2.com/products/allvue/reviews   ·   https://www.saasworthy.com/product/allvue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Confluence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Enterprise data, regulatory reporting and analytics for the investment-management industry.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29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 regulatory and data-quality leader; modular reporting across the fund lifecycle, increasingly AI-driven.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93874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Asset managers, asset servicers, asset owners and investment consultants; 30+ years in market.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59456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Regulatory reporting, Alternative Funds Reporting Platform (Omnia), Rex (AI data quality), Confluence PARIS / Style Analytics, Investor communications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7532"/>
            <a:ext cx="2971800" cy="569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End-to-end regulatory lifecycle incl. ESG, AI-driven data quality (Rex), Modular alternative-funds reporting, Portfolio analytics (PARIS, Style Analytics)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5608"/>
            <a:ext cx="2971800" cy="142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Enterprise; not public.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5620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Glassdoor 3.7/5 (122, employer), 70% recommend; IDC FinTech Top 100 (2024); Chartis category leader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21784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Well-regarded for regulatory and data quality; strong enterprise references.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292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987804"/>
            <a:ext cx="2971800" cy="68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Category leader in regulatory reporting (Chartis 2025)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AI data-quality recognition (2025 awards)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Deep buy-side compliance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35580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95092"/>
            <a:ext cx="2971800" cy="5036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Narrower than a full front-to-back platform (reporting and data centric)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Not a portfolio/trading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9567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55184"/>
            <a:ext cx="6217920" cy="541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'Best Solution for Buy-Side Regulatory Compliance' (RegTech Insight USA)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'Best AI-Based Solution for Data Quality' for Rex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2025: Chartis Category Leader, Regulatory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466"/>
            <a:ext cx="621792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YouTube (@ConfluenceTechnologiesInc) mixes product explainers (Revolution, Confluence PARIS, Style Analytics) with a 'Beyond Borders' market-commentary series (trade/tariffs, Canadian banks and pension funds). Award-led PR (Chartis Category Leader, RegTech Insight USA 2025, AI in Capital Markets 2025).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51448"/>
            <a:ext cx="6217920" cy="234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https://www.confluence.com/   ·   https://www.youtube.com/@ConfluenceTechnologiesInc   ·   https://www.businesswire.com/news/home/20251121213596/en/Confluence-Named-Best-Solution-for-Buy-Side-Regulatory-Compliance-at-the-RegTech-Insight-USA-Awards-2025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73 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1760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23263B"/>
                </a:solidFill>
                <a:latin typeface="Inter"/>
              </a:rPr>
              <a:t>AI-native valuation, monitoring and data-extraction platform for private markets.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52270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POSITIONING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Automates middle-office valuation and unstructured-data structuring for alternative assets; an emerging AI challenger.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17852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TARGET CUSTOMERS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Private equity, growth equity, VC, infrastructure and private credit; targeting the $17.6T alternative-AUM 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83434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PRODUCTS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Value (automated valuations), Monitor (portfolio monitoring), Extract (unstructured-data structuring)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49016"/>
            <a:ext cx="297180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KEY FEATURES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AI fair-value estimation, Up to 99% data accuracy, ~50% valuation cost reduction, Up to 10x faster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14598"/>
            <a:ext cx="2971800" cy="142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PRICING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Quote-on-request (enterprise SaaS).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95192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RATINGS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Minimal public reviews (early-stage); strong investor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18280"/>
            <a:ext cx="2971800" cy="284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SENTIMENT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Buzzy and emerging; validated by top-tier investors more than by public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652270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11782"/>
            <a:ext cx="2971800" cy="1007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AI-native, modern stack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Strong investor backing (Goldman Sachs Alternatives, Blackstone, Hamilton Lane, Golub)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Sharp wedge in private-markets valuation/data that overlaps IVP MDM and credit data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Fast, quantified ROI 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882646"/>
            <a:ext cx="297180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WATCH-OUTS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042158"/>
            <a:ext cx="2971800" cy="826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Narrow (valuation/data) versus full-platform breadth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Younger and smaller, still scaling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Point solution that must integrate with systems of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9216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7280"/>
                </a:solidFill>
                <a:latin typeface="Inter"/>
              </a:rPr>
              <a:t>RECENT MOVES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51680"/>
            <a:ext cx="6217920" cy="32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1A1F29"/>
                </a:solidFill>
                <a:latin typeface="Inter"/>
              </a:rPr>
              <a:t>•  Feb 2025: $55M Series B led by Growth Equity at Goldman Sachs Alternatives (with Blackstone, Hamilton Lane, Golub, Broadhaven)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38268"/>
            <a:ext cx="6217920" cy="427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B7280"/>
                </a:solidFill>
                <a:latin typeface="Inter"/>
              </a:rPr>
              <a:t>MARKETING &amp; CHANNELS  </a:t>
            </a:r>
            <a:r>
              <a:rPr sz="850" b="0" i="0">
                <a:solidFill>
                  <a:srgbClr val="1A1F29"/>
                </a:solidFill>
                <a:latin typeface="Inter"/>
              </a:rPr>
              <a:t>LinkedIn- and PR-led (founder/CEO Yann Magnan; Series B coverage). Thought leadership on AI valuation for private markets. Minimal owned video/channel program so far (occasional embedded videos rather than an active YouTube channel).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29250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https://www.73strings.com/private-markets-valuation-software/   ·   https://www.businesswire.com/news/home/20250219284432/en/73-Strings-Secures-$55m-Series-B-Led-by-Growth-Equity-at-Goldman-Sachs-Alternatives   ·   https://pitchbook.com/profiles/company/265552-84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What's Working for Competitors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2407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•  Unified front-to-back platforms reduce vendor sprawl and win enterprise deals (Enfusion, SimCorp, SS&amp;C).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•  AI-native messaging backed by shipped agents creates differentiation and buying urgency (Arcesium, 73 Strings, Confluence Rex).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•  Private-markets specialization with ILPA-aligned LP reporting resonates with PE and credit GPs (Allvue).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•  Managed services and outsourcing layered onto software drive recurring revenue and retention (Enfusion ~95% retention, SS&amp;C).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•  High-cadence video and event content (client stories, product explainers, AI webinars) keeps competitors visible and builds trust (SS&amp;C Black Diamond stories, Allvue, SimCorp, Confluence).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•  Third-party analyst and award recognition (Chartis, RegTech Insight) builds buy-side trust (Confluence).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71468"/>
            <a:ext cx="6217920" cy="469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https://www.enfusion.com/   ·   https://www.youtube.com/@oneenfusion   ·   https://www.capterra.com/p/165409/Enfusion/   ·   https://www.hedgeweek.com/quant-funds-choose-enfusion-investment-management-technology-and-managed-services/   ·   https://www.arcesium.com/   ·   https://www.youtube.com/c/Arcesium   ·   https://investor.factset.com/news-releases/news-release-details/factset-and-arcesium-debut-tech-unite-front-middle-and-back   ·   https://www.cbinsights.com/company/arcesium   (+18 more — see Sources &amp; Methodology)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Where You Can Improve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Lead with private-credit and private-funds depth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[HIGH]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80388"/>
            <a:ext cx="6217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Allvue and 73 Strings are crowding private markets; IVP for Credit / Private Funds plus the IntegriDATA acquisition is a real edge. Make it the headline message, not a sub-bullet.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71040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Ship and market a credible agentic-AI story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[HIGH]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64080"/>
            <a:ext cx="6217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Arcesium, Confluence (Rex) and 73 Strings are defining the AI narrative. IVP needs visible AI in data quality, NAV/reconciliation and valuation to avoid looking behind.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54732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Own the unified data layer / single source of truth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[HIGH]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7772"/>
            <a:ext cx="6217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The market is rallying around unified buy-side data. IVP's Master Data Management plus managed services can claim 'data-first' rather than a set of point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38424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Revive a dormant content and video channel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[HIGH]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1464"/>
            <a:ext cx="6217920" cy="754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IVP's YouTube channel has ~35 subscribers and ~8 videos, all from 2012, and isn't linked from ivp.in. Competitor channels are modest too (SimCorp ~989, SS&amp;C ~746, Arcesium ~704 subs), but several publish current client stories, product explainers and webinars, and Enfusion runs the 'Beyond Alpha' podcast. The gap is activity/recency: a modern program (client stories, product explainers, an AI / private-credit POV series), promoted on LinkedIn, would close it at low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74744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Differentiate on managed services + product together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[MEDIUM]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67784"/>
            <a:ext cx="6217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Competitors monetize managed services for retention; IVP's 25-year services DNA is a moat to emphasize versus pure-software rivals.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8436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Address AI valuation (build or partner) before 73 Strings expands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[MEDIUM]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51476"/>
            <a:ext cx="6217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AI valuation and data extraction is an emerging wedge straight into IVP's data turf; a native module or a partnership would neutralize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2128"/>
            <a:ext cx="6217920" cy="16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3263B"/>
                </a:solidFill>
                <a:latin typeface="Inter"/>
              </a:rPr>
              <a:t>Pursue analyst and award visibility</a:t>
            </a:r>
            <a:r>
              <a:rPr sz="850" b="1" i="0">
                <a:solidFill>
                  <a:srgbClr val="F2CE72"/>
                </a:solidFill>
                <a:latin typeface="Inter"/>
              </a:rPr>
              <a:t>   [LOW]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5168"/>
            <a:ext cx="6217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Inter"/>
              </a:rPr>
              <a:t>Confluence leverages Chartis and RegTech recognition for trust; IVP should pursue comparable independent validation.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25820"/>
            <a:ext cx="621792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6B7280"/>
                </a:solidFill>
                <a:latin typeface="Inter"/>
              </a:rPr>
              <a:t>Sources: https://www.ivp.in/   ·   https://www.enfusion.com/   ·   https://www.youtube.com/@oneenfusion   ·   https://www.arcesium.com/   ·   https://www.youtube.com/c/Arcesium   ·   https://www.ssctech.com/   ·   https://www.youtube.com/c/SsctechInc   ·   https://www.simcorp.com/   (+7 more — see Sources &amp; Methodology)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What Changed Since Last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335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F29"/>
                </a:solidFill>
                <a:latin typeface="Inter"/>
              </a:rPr>
              <a:t>This is the baseline run — the first snapshot of the market. Future runs will highlight what changed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andid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37744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6424" y="420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23263B"/>
                </a:solidFill>
                <a:latin typeface="Inter"/>
              </a:rPr>
              <a:t>Indus Valley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217920" cy="1524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491472"/>
            <a:ext cx="6217920" cy="76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555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B7280"/>
                </a:solidFill>
                <a:latin typeface="Inter"/>
              </a:rPr>
              <a:t>Competitive Landscape Report · 2026-06-15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9555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Inter"/>
              </a:rPr>
              <a:t>Page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914400"/>
            <a:ext cx="1188720" cy="38100"/>
          </a:xfrm>
          <a:prstGeom prst="rect">
            <a:avLst/>
          </a:prstGeom>
          <a:solidFill>
            <a:srgbClr val="F2C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033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63B"/>
                </a:solidFill>
                <a:latin typeface="Inter"/>
              </a:rPr>
              <a:t>Sources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7348"/>
            <a:ext cx="6217920" cy="7124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470"/>
                </a:solidFill>
                <a:latin typeface="Inter"/>
              </a:rPr>
              <a:t>Free research on 2026-06-15 via WebSearch, WebFetch, and direct site + YouTube reads. YouTube subscriber/video counts and recent uploads were read from each channel's public page and RSS feed; review ratings are from G2, Capterra, Gartner Peer Insights and Glassdoor (note: Glassdoor scores reflect employee/employer sentiment, not product quality). Enterprise products often have sparse public product reviews. Competitor pricing is largely quote-on-request; figures and 'recent moves' reflect publicly reported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141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1.  https://www.ivp.in/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6093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2.  https://www.enfusion.com/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044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3.  https://www.youtube.com/@oneenfusion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9954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4.  https://www.arcesium.com/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9466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5.  https://www.youtube.com/c/Arcesium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897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6.  https://www.ssctech.com/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5849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7.  https://www.youtube.com/c/SsctechInc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1800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8.  https://www.simcorp.com/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7514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9.  https://www.youtube.com/channel/UCKPHUkNBQTA3nlPJE1CfwXQ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37026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10.  https://www.allvuesystems.com/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653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11.  https://www.youtube.com/@AllvueSystems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5605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12.  https://www.confluence.com/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1556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13.  https://www.youtube.com/@ConfluenceTechnologiesInc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75074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14.  https://www.73strings.com/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586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15.  https://www.businesswire.com/news/home/20240905783620/en/Indus-Valley-Partners-Acquires-IntegriDATA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9409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16.  https://www.capterra.com/p/165409/Enfusion/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5361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17.  https://www.hedgeweek.com/quant-funds-choose-enfusion-investment-management-technology-and-managed-services/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13122"/>
            <a:ext cx="6217920" cy="26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18.  https://investor.factset.com/news-releases/news-release-details/factset-and-arcesium-debut-tech-unite-front-middle-and-back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06746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19.  https://www.cbinsights.com/company/arcesium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6625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20.  https://www.advent.com/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2577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21.  https://en.wikipedia.org/wiki/SS&amp;C_Technologies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8528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22.  https://www.gartner.com/reviews/product/simcorp-one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44794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23.  https://www.trustradius.com/products/simcorp-one/reviews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04306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24.  https://www.allvuesystems.com/industries/private-equity/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63818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25.  https://www.g2.com/products/allvue/reviews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3330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26.  https://www.saasworthy.com/product/allvue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82842"/>
            <a:ext cx="6217920" cy="26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27.  https://www.businesswire.com/news/home/20251121213596/en/Confluence-Named-Best-Solution-for-Buy-Side-Regulatory-Compliance-at-the-RegTech-Insight-USA-Awards-2025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776466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28.  https://www.73strings.com/private-markets-valuation-software/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935978"/>
            <a:ext cx="6217920" cy="26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29.  https://www.businesswire.com/news/home/20250219284432/en/73-Strings-Secures-$55m-Series-B-Led-by-Growth-Equity-at-Goldman-Sachs-Alternatives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7229602"/>
            <a:ext cx="6217920" cy="13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470"/>
                </a:solidFill>
                <a:latin typeface="Inter"/>
              </a:rPr>
              <a:t>30.  https://pitchbook.com/profiles/company/265552-84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