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15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5350" y="2821409"/>
            <a:ext cx="1257300" cy="1257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8035" y="4269209"/>
            <a:ext cx="2351856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3300" spc="-33" kern="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</a:t>
            </a:r>
            <a:pPr algn="ctr" indent="0" marL="0">
              <a:lnSpc>
                <a:spcPct val="165000"/>
              </a:lnSpc>
              <a:buNone/>
            </a:pPr>
            <a:r>
              <a:rPr lang="en-US" sz="3300" spc="-33" kern="0" dirty="0">
                <a:solidFill>
                  <a:srgbClr val="15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4143859" y="5646465"/>
            <a:ext cx="10000283" cy="79816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700" spc="-114" kern="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 Report</a:t>
            </a:r>
            <a:endParaRPr lang="en-US" sz="5700" dirty="0"/>
          </a:p>
        </p:txBody>
      </p:sp>
      <p:sp>
        <p:nvSpPr>
          <p:cNvPr id="6" name="Text 3"/>
          <p:cNvSpPr/>
          <p:nvPr/>
        </p:nvSpPr>
        <p:spPr>
          <a:xfrm>
            <a:off x="6389097" y="6711330"/>
            <a:ext cx="550973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1800" spc="324" kern="0" dirty="0">
                <a:solidFill>
                  <a:srgbClr val="15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INTELLIGENCE TOOLS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01023" y="7317060"/>
            <a:ext cx="508595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F5F2EA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2026-06-18 · Run 04 · vs. 2026-05-21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-274320" y="9439275"/>
            <a:ext cx="188366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F5F2EA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— prepared for MarketLens · Runs locally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838200" cy="47625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152525"/>
            <a:ext cx="1648206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spc="324" kern="0" dirty="0">
                <a:solidFill>
                  <a:srgbClr val="0E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701105"/>
            <a:ext cx="1760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43000" y="2687836"/>
            <a:ext cx="13735050" cy="1927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competitive-intelligence market is consolidating around expensive, sales-led enterprise suites. The open lane is a grounded, brand-aware report an operator can run themselves — locally, tonight, for free. Three of five tracked competitors moved on price or packaging this quarter.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143000" y="7289974"/>
            <a:ext cx="16002000" cy="2082626"/>
          </a:xfrm>
          <a:prstGeom prst="roundRect">
            <a:avLst>
              <a:gd name="adj" fmla="val 7318"/>
            </a:avLst>
          </a:prstGeom>
          <a:solidFill>
            <a:srgbClr val="0F1E2D"/>
          </a:solidFill>
          <a:ln/>
        </p:spPr>
      </p:sp>
      <p:sp>
        <p:nvSpPr>
          <p:cNvPr id="7" name="Text 5"/>
          <p:cNvSpPr/>
          <p:nvPr/>
        </p:nvSpPr>
        <p:spPr>
          <a:xfrm>
            <a:off x="1676400" y="7747174"/>
            <a:ext cx="292641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spc="-114" kern="0" dirty="0">
                <a:solidFill>
                  <a:srgbClr val="15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1676400" y="8585374"/>
            <a:ext cx="2740188" cy="36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spc="158" kern="0" dirty="0">
                <a:solidFill>
                  <a:srgbClr val="F5F2E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COMPETITORS TRACKED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098777" y="7747174"/>
            <a:ext cx="2002267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spc="-114" kern="0" dirty="0">
                <a:solidFill>
                  <a:srgbClr val="E8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4" kern="0" dirty="0">
                <a:solidFill>
                  <a:srgbClr val="15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5098777" y="8585374"/>
            <a:ext cx="1896442" cy="36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spc="158" kern="0" dirty="0">
                <a:solidFill>
                  <a:srgbClr val="F5F2E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RAISED PRICES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7681020" y="7747174"/>
            <a:ext cx="231028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spc="-114" kern="0" dirty="0">
                <a:solidFill>
                  <a:srgbClr val="15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700" dirty="0"/>
          </a:p>
        </p:txBody>
      </p:sp>
      <p:sp>
        <p:nvSpPr>
          <p:cNvPr id="12" name="Text 10"/>
          <p:cNvSpPr/>
          <p:nvPr/>
        </p:nvSpPr>
        <p:spPr>
          <a:xfrm>
            <a:off x="7681020" y="8585374"/>
            <a:ext cx="2176463" cy="36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spc="158" kern="0" dirty="0">
                <a:solidFill>
                  <a:srgbClr val="F5F2E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AI FEATURES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0543282" y="7747174"/>
            <a:ext cx="2002267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spc="-114" kern="0" dirty="0">
                <a:solidFill>
                  <a:srgbClr val="15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10543282" y="8585374"/>
            <a:ext cx="1896442" cy="36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spc="158" kern="0" dirty="0">
                <a:solidFill>
                  <a:srgbClr val="F5F2E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OPPORTUNITIES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838200" cy="47625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152525"/>
            <a:ext cx="1648206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spc="324" kern="0" dirty="0">
                <a:solidFill>
                  <a:srgbClr val="0E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FIELD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701105"/>
            <a:ext cx="1760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Landscape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43000" y="2840236"/>
            <a:ext cx="16002000" cy="5476652"/>
          </a:xfrm>
          <a:prstGeom prst="roundRect">
            <a:avLst>
              <a:gd name="adj" fmla="val 2435"/>
            </a:avLst>
          </a:prstGeom>
          <a:ln w="9525">
            <a:solidFill>
              <a:srgbClr val="0F1E2D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525" y="2849761"/>
            <a:ext cx="15982950" cy="733425"/>
          </a:xfrm>
          <a:prstGeom prst="rect">
            <a:avLst/>
          </a:prstGeom>
          <a:solidFill>
            <a:srgbClr val="0F1E2D"/>
          </a:solidFill>
          <a:ln/>
        </p:spPr>
      </p:sp>
      <p:sp>
        <p:nvSpPr>
          <p:cNvPr id="7" name="Text 5"/>
          <p:cNvSpPr/>
          <p:nvPr/>
        </p:nvSpPr>
        <p:spPr>
          <a:xfrm>
            <a:off x="1419225" y="3059311"/>
            <a:ext cx="35822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F5F2E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14963" y="3059311"/>
            <a:ext cx="58270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F5F2E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90139" y="3059311"/>
            <a:ext cx="32080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F5F2E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222662" y="3059311"/>
            <a:ext cx="17222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F5F2E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52525" y="3583186"/>
            <a:ext cx="3995738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419225" y="3840361"/>
            <a:ext cx="358221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Crayon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148263" y="3583186"/>
            <a:ext cx="6175177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14963" y="3840361"/>
            <a:ext cx="5827032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CI suite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323439" y="3583186"/>
            <a:ext cx="3632522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590139" y="3840361"/>
            <a:ext cx="3208098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56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4955962" y="3583186"/>
            <a:ext cx="2179439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5222662" y="3840361"/>
            <a:ext cx="172223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B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$$$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52525" y="4528021"/>
            <a:ext cx="15982950" cy="944835"/>
          </a:xfrm>
          <a:prstGeom prst="rect">
            <a:avLst/>
          </a:prstGeom>
          <a:solidFill>
            <a:srgbClr val="FBF9F4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2525" y="4528021"/>
            <a:ext cx="3995738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419225" y="4785196"/>
            <a:ext cx="358221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Klue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5148263" y="4528021"/>
            <a:ext cx="6175177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14963" y="4785196"/>
            <a:ext cx="5827032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battlecards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1323439" y="4528021"/>
            <a:ext cx="3632522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590139" y="4785196"/>
            <a:ext cx="3208098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56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Mid–Enterprise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4955962" y="4528021"/>
            <a:ext cx="2179439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5222662" y="4785196"/>
            <a:ext cx="172223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B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$$$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52525" y="5472857"/>
            <a:ext cx="3995738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419225" y="5730032"/>
            <a:ext cx="358221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AlphaSense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5148263" y="5472857"/>
            <a:ext cx="6175177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414963" y="5730032"/>
            <a:ext cx="5827032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search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1323439" y="5472857"/>
            <a:ext cx="3632522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1590139" y="5730032"/>
            <a:ext cx="3208098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56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4955962" y="5472857"/>
            <a:ext cx="2179439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5222662" y="5730032"/>
            <a:ext cx="172223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B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$$$$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152525" y="6417692"/>
            <a:ext cx="15982950" cy="944835"/>
          </a:xfrm>
          <a:prstGeom prst="rect">
            <a:avLst/>
          </a:prstGeom>
          <a:solidFill>
            <a:srgbClr val="FBF9F4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525" y="6417692"/>
            <a:ext cx="3995738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419225" y="6674867"/>
            <a:ext cx="358221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Kompyte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5148263" y="6417692"/>
            <a:ext cx="6175177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14963" y="6674867"/>
            <a:ext cx="5827032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tracking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11323439" y="6417692"/>
            <a:ext cx="3632522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1590139" y="6674867"/>
            <a:ext cx="3208098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56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SMB–Mid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4955962" y="6417692"/>
            <a:ext cx="2179439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5222662" y="6674867"/>
            <a:ext cx="172223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B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152525" y="7362527"/>
            <a:ext cx="15982950" cy="944835"/>
          </a:xfrm>
          <a:prstGeom prst="rect">
            <a:avLst/>
          </a:prstGeom>
          <a:solidFill>
            <a:srgbClr val="DBF1ED"/>
          </a:solidFill>
          <a:ln/>
        </p:spPr>
      </p:sp>
      <p:sp>
        <p:nvSpPr>
          <p:cNvPr id="46" name="Shape 44"/>
          <p:cNvSpPr/>
          <p:nvPr/>
        </p:nvSpPr>
        <p:spPr>
          <a:xfrm>
            <a:off x="1152525" y="7362527"/>
            <a:ext cx="3995738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419225" y="7619702"/>
            <a:ext cx="358221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E85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MarketLens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5148263" y="7362527"/>
            <a:ext cx="6175177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414963" y="7619702"/>
            <a:ext cx="5827032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Brand-aware, local, re-runnable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1323439" y="7362527"/>
            <a:ext cx="3632522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1590139" y="7619702"/>
            <a:ext cx="3208098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56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14955962" y="7362527"/>
            <a:ext cx="2179439" cy="9525"/>
          </a:xfrm>
          <a:prstGeom prst="rect">
            <a:avLst/>
          </a:prstGeom>
          <a:solidFill>
            <a:srgbClr val="0F1E2D">
              <a:alpha val="1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5222662" y="7619702"/>
            <a:ext cx="172223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E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838200" cy="47625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152525"/>
            <a:ext cx="1648206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spc="324" kern="0" dirty="0">
                <a:solidFill>
                  <a:srgbClr val="0E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701105"/>
            <a:ext cx="1760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 Profiles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43000" y="2840236"/>
            <a:ext cx="5130775" cy="6532364"/>
          </a:xfrm>
          <a:prstGeom prst="roundRect">
            <a:avLst>
              <a:gd name="adj" fmla="val 2970"/>
            </a:avLst>
          </a:prstGeom>
          <a:solidFill>
            <a:srgbClr val="FBF9F4"/>
          </a:solidFill>
          <a:ln w="9525">
            <a:solidFill>
              <a:srgbClr val="0F1E2D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6375" y="3192661"/>
            <a:ext cx="4597946" cy="635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850" b="1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Crayon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476375" y="3866034"/>
            <a:ext cx="4910428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i="1" dirty="0">
                <a:solidFill>
                  <a:srgbClr val="56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CI suite with always-on tracking.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476375" y="4420344"/>
            <a:ext cx="4597946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spc="114" kern="0" dirty="0">
                <a:solidFill>
                  <a:srgbClr val="0E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544955" y="4833193"/>
            <a:ext cx="4471645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CRM/Slack integrations</a:t>
            </a:r>
            <a:endParaRPr lang="en-US" sz="1800" dirty="0"/>
          </a:p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Battlecards + win-loss</a:t>
            </a:r>
            <a:endParaRPr lang="en-US" sz="1800" dirty="0"/>
          </a:p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curated dataset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76375" y="6178079"/>
            <a:ext cx="4597946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spc="114" kern="0" dirty="0">
                <a:solidFill>
                  <a:srgbClr val="C97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WATCH-OUTS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544955" y="6590928"/>
            <a:ext cx="4471645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setup &amp; CI owner</a:t>
            </a:r>
            <a:endParaRPr lang="en-US" sz="1800" dirty="0"/>
          </a:p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reach for small teams</a:t>
            </a:r>
            <a:endParaRPr lang="en-US" sz="1800" dirty="0"/>
          </a:p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Templated, not on-brand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78575" y="2840236"/>
            <a:ext cx="5130775" cy="6532364"/>
          </a:xfrm>
          <a:prstGeom prst="roundRect">
            <a:avLst>
              <a:gd name="adj" fmla="val 2970"/>
            </a:avLst>
          </a:prstGeom>
          <a:solidFill>
            <a:srgbClr val="FBF9F4"/>
          </a:solidFill>
          <a:ln w="9525">
            <a:solidFill>
              <a:srgbClr val="0F1E2D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1950" y="3192661"/>
            <a:ext cx="4597946" cy="635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850" b="1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Klue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6911950" y="3866034"/>
            <a:ext cx="4597946" cy="651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i="1" dirty="0">
                <a:solidFill>
                  <a:srgbClr val="56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enablement around the battlecard.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6911950" y="4727004"/>
            <a:ext cx="4597946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spc="114" kern="0" dirty="0">
                <a:solidFill>
                  <a:srgbClr val="0E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STRENGTHS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980530" y="5139854"/>
            <a:ext cx="4471645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battlecard UX</a:t>
            </a:r>
            <a:endParaRPr lang="en-US" sz="1800" dirty="0"/>
          </a:p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CRM + chat surfacing</a:t>
            </a:r>
            <a:endParaRPr lang="en-US" sz="1800" dirty="0"/>
          </a:p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Consumer-grade polish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11950" y="6484739"/>
            <a:ext cx="4597946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spc="114" kern="0" dirty="0">
                <a:solidFill>
                  <a:srgbClr val="C97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WATCH-OUTS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6980530" y="6897588"/>
            <a:ext cx="4471645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for strategy/PM use</a:t>
            </a:r>
            <a:endParaRPr lang="en-US" sz="1800" dirty="0"/>
          </a:p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local/offline mode</a:t>
            </a:r>
            <a:endParaRPr lang="en-US" sz="1800" dirty="0"/>
          </a:p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Per-seat cost scales fast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14150" y="2840236"/>
            <a:ext cx="5130850" cy="6532364"/>
          </a:xfrm>
          <a:prstGeom prst="roundRect">
            <a:avLst>
              <a:gd name="adj" fmla="val 2970"/>
            </a:avLst>
          </a:prstGeom>
          <a:solidFill>
            <a:srgbClr val="FBF9F4"/>
          </a:solidFill>
          <a:ln w="9525">
            <a:solidFill>
              <a:srgbClr val="0F1E2D">
                <a:alpha val="1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7525" y="3192661"/>
            <a:ext cx="4598023" cy="635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850" b="1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AlphaSense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2347525" y="3866034"/>
            <a:ext cx="4910510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i="1" dirty="0">
                <a:solidFill>
                  <a:srgbClr val="56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market-intelligence search engine.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2347525" y="4420344"/>
            <a:ext cx="4598023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spc="114" kern="0" dirty="0">
                <a:solidFill>
                  <a:srgbClr val="0E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2416105" y="4833193"/>
            <a:ext cx="4471720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premium corpus</a:t>
            </a:r>
            <a:endParaRPr lang="en-US" sz="1800" dirty="0"/>
          </a:p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semantic search</a:t>
            </a:r>
            <a:endParaRPr lang="en-US" sz="1800" dirty="0"/>
          </a:p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in finance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7525" y="6178079"/>
            <a:ext cx="4598023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spc="114" kern="0" dirty="0">
                <a:solidFill>
                  <a:srgbClr val="C97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WATCH-OUTS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2416105" y="6590928"/>
            <a:ext cx="4471720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not a finished report</a:t>
            </a:r>
            <a:endParaRPr lang="en-US" sz="1800" dirty="0"/>
          </a:p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Ungrounded in your brand</a:t>
            </a:r>
            <a:endParaRPr lang="en-US" sz="1800" dirty="0"/>
          </a:p>
          <a:p>
            <a:pPr algn="l" marL="160020" indent="-160020">
              <a:lnSpc>
                <a:spcPct val="13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for one-offs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838200" cy="47625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152525"/>
            <a:ext cx="1648206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spc="324" kern="0" dirty="0">
                <a:solidFill>
                  <a:srgbClr val="C97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SINCE 2026-05-21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701105"/>
            <a:ext cx="1760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 Since Last Run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43000" y="2878336"/>
            <a:ext cx="47625" cy="2147367"/>
          </a:xfrm>
          <a:prstGeom prst="rect">
            <a:avLst/>
          </a:prstGeom>
          <a:solidFill>
            <a:srgbClr val="E8963A"/>
          </a:solidFill>
          <a:ln/>
        </p:spPr>
      </p:sp>
      <p:sp>
        <p:nvSpPr>
          <p:cNvPr id="6" name="Shape 4"/>
          <p:cNvSpPr/>
          <p:nvPr/>
        </p:nvSpPr>
        <p:spPr>
          <a:xfrm>
            <a:off x="1571625" y="2883098"/>
            <a:ext cx="816918" cy="482426"/>
          </a:xfrm>
          <a:prstGeom prst="roundRect">
            <a:avLst>
              <a:gd name="adj" fmla="val 50000"/>
            </a:avLst>
          </a:prstGeom>
          <a:solidFill>
            <a:srgbClr val="E8963A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724025" y="2959298"/>
            <a:ext cx="588318" cy="3681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spc="63" kern="0" dirty="0">
                <a:solidFill>
                  <a:srgbClr val="C97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KLUE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2617143" y="2878336"/>
            <a:ext cx="103149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per-seat pricing ~12% and bundled win-loss into the base tier.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571625" y="3713187"/>
            <a:ext cx="1072902" cy="482426"/>
          </a:xfrm>
          <a:prstGeom prst="roundRect">
            <a:avLst>
              <a:gd name="adj" fmla="val 50000"/>
            </a:avLst>
          </a:prstGeom>
          <a:solidFill>
            <a:srgbClr val="E8963A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724025" y="3789387"/>
            <a:ext cx="844302" cy="3681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spc="63" kern="0" dirty="0">
                <a:solidFill>
                  <a:srgbClr val="C97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CRAYON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2873127" y="3708425"/>
            <a:ext cx="786459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an AI summary assistant across battlecards.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571625" y="4543276"/>
            <a:ext cx="1585020" cy="482426"/>
          </a:xfrm>
          <a:prstGeom prst="roundRect">
            <a:avLst>
              <a:gd name="adj" fmla="val 50000"/>
            </a:avLst>
          </a:prstGeom>
          <a:solidFill>
            <a:srgbClr val="E8963A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724025" y="4619476"/>
            <a:ext cx="1356420" cy="3681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spc="63" kern="0" dirty="0">
                <a:solidFill>
                  <a:srgbClr val="C97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ALPHASENSE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3385245" y="4538514"/>
            <a:ext cx="768107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B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its expert-call corpus; no pricing change.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43000" y="8852074"/>
            <a:ext cx="2775272" cy="520526"/>
          </a:xfrm>
          <a:prstGeom prst="roundRect">
            <a:avLst>
              <a:gd name="adj" fmla="val 50000"/>
            </a:avLst>
          </a:prstGeom>
          <a:solidFill>
            <a:srgbClr val="DBF1ED"/>
          </a:solidFill>
          <a:ln/>
        </p:spPr>
      </p:sp>
      <p:sp>
        <p:nvSpPr>
          <p:cNvPr id="16" name="Text 14"/>
          <p:cNvSpPr/>
          <p:nvPr/>
        </p:nvSpPr>
        <p:spPr>
          <a:xfrm>
            <a:off x="1314450" y="8947324"/>
            <a:ext cx="2515631" cy="36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spc="63" kern="0" dirty="0">
                <a:solidFill>
                  <a:srgbClr val="0E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AI-NATIVE LANE OPEN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4070672" y="8852074"/>
            <a:ext cx="3543300" cy="520526"/>
          </a:xfrm>
          <a:prstGeom prst="roundRect">
            <a:avLst>
              <a:gd name="adj" fmla="val 50000"/>
            </a:avLst>
          </a:prstGeom>
          <a:solidFill>
            <a:srgbClr val="ECE7DB"/>
          </a:solidFill>
          <a:ln/>
        </p:spPr>
      </p:sp>
      <p:sp>
        <p:nvSpPr>
          <p:cNvPr id="18" name="Text 16"/>
          <p:cNvSpPr/>
          <p:nvPr/>
        </p:nvSpPr>
        <p:spPr>
          <a:xfrm>
            <a:off x="4242122" y="8947324"/>
            <a:ext cx="3306699" cy="36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spc="63" kern="0" dirty="0">
                <a:solidFill>
                  <a:srgbClr val="567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LOCAL-FIRST COMPETITOR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17118"/>
            <a:ext cx="876300" cy="876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198218"/>
            <a:ext cx="136207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0" spc="-120" kern="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Re-run anytime to see what changed.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1143000" y="5226918"/>
            <a:ext cx="1079182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F5F2EA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rigor for everyone — the skin is yours. Runs locally, free, no data leaves your machine.</a:t>
            </a:r>
            <a:endParaRPr lang="en-US" sz="2325" dirty="0"/>
          </a:p>
        </p:txBody>
      </p:sp>
      <p:sp>
        <p:nvSpPr>
          <p:cNvPr id="5" name="Text 2"/>
          <p:cNvSpPr/>
          <p:nvPr/>
        </p:nvSpPr>
        <p:spPr>
          <a:xfrm>
            <a:off x="1143000" y="6924154"/>
            <a:ext cx="16482060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F5F2EA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crayon.co · klue.com · alpha-sense.com · g2.com · capterra.com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2026-06-20T17:30:05Z</dcterms:created>
  <dcterms:modified xsi:type="dcterms:W3CDTF">2026-06-20T17:30:05Z</dcterms:modified>
</cp:coreProperties>
</file>